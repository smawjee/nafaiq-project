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10896" cy="1051560"/>
          </a:xfrm>
          <a:prstGeom prst="roundRect">
            <a:avLst>
              <a:gd name="adj" fmla="val 6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Inter"/>
              </a:rPr>
              <a:t>NafaIQ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46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spc="60">
                <a:solidFill>
                  <a:srgbClr val="00D4AA"/>
                </a:solidFill>
                <a:latin typeface="Inter"/>
              </a:rPr>
              <a:t>PSX  ·  Finance  ·  AI — One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Inter"/>
              </a:rPr>
              <a:t>Week 6  —  Generative AI: Use Case, Architecture &amp;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800600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480060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D4AA"/>
                </a:solidFill>
                <a:latin typeface="Inter"/>
              </a:rPr>
              <a:t>AI Tutor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4800600"/>
            <a:ext cx="1874519" cy="384048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4800600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B981"/>
                </a:solidFill>
                <a:latin typeface="Inter"/>
              </a:rPr>
              <a:t>Verified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3" y="4800600"/>
            <a:ext cx="1554480" cy="384048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3" y="480060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D4AA"/>
                </a:solidFill>
                <a:latin typeface="Inter"/>
              </a:rPr>
              <a:t>RAG LearnHub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03135" y="4800600"/>
            <a:ext cx="1874519" cy="384048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5" y="4800600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4A017"/>
                </a:solidFill>
                <a:latin typeface="Inter"/>
              </a:rPr>
              <a:t>Email → Finance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Built for the Pakistani investor  ·  Web + Mobile  ·  FastAPI + 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46304" cy="384048"/>
          </a:xfrm>
          <a:prstGeom prst="roundRect">
            <a:avLst>
              <a:gd name="adj" fmla="val 6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NafaIQ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00D4AA"/>
                </a:solidFill>
                <a:latin typeface="Inter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What is NafaIQ?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2212848"/>
            <a:ext cx="77724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NafaIQ  ·  Week 6 — Generative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02 /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6766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Inter"/>
              </a:rPr>
              <a:t>A single terminal for Pakistan's markets and personal money — live PSX data, portfolio tracking, budgeting and goals, plus a LearnHub to build financial literacy.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39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284877"/>
            <a:ext cx="38100" cy="1305763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160519"/>
            <a:ext cx="315468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The problem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PSX tools are fragmented, English-heavy, and assume expertise. New investors lack a guided, trustworthy starting 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3977639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4284877"/>
            <a:ext cx="38100" cy="13057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4160519"/>
            <a:ext cx="315468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The product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Market data + finance + education in one app (web &amp; mobile), in plain language, with Urdu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3977639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4284877"/>
            <a:ext cx="38100" cy="1305763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4160519"/>
            <a:ext cx="315468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Where AI fits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Turn raw numbers into understanding — explain the market, the portfolio, the budget; teach; automate finance capture.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46304" cy="384048"/>
          </a:xfrm>
          <a:prstGeom prst="roundRect">
            <a:avLst>
              <a:gd name="adj" fmla="val 6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NafaIQ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00D4AA"/>
                </a:solidFill>
                <a:latin typeface="Inter"/>
              </a:rPr>
              <a:t>AI USE CASE &amp;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Where generative AI adds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2212848"/>
            <a:ext cx="77724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NafaIQ  ·  Week 6 — Generative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03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92577"/>
            <a:ext cx="38100" cy="118140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97480"/>
            <a:ext cx="3154680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AI Tutor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Streaming chat inside every lesson — asks answered in plain, Pakistan-specific language.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51460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2792577"/>
            <a:ext cx="38100" cy="11814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697480"/>
            <a:ext cx="3154680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Verified Reports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Market brief, stock, portfolio, finance &amp; daily nudge — figures explained, never invented.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251460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2792577"/>
            <a:ext cx="38100" cy="118140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2697480"/>
            <a:ext cx="3154680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LearnHub RAG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Semantic search, related lessons, and grounded quiz explanations &amp; summaries.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3484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12817"/>
            <a:ext cx="38100" cy="118140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617720"/>
            <a:ext cx="3154680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Email → Finance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Reads bank alert emails and auto-creates transactions — zero manual entry.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8536" y="443484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8536" y="4712817"/>
            <a:ext cx="38100" cy="11814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4617720"/>
            <a:ext cx="3154680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Daily Nudge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One high-signal insight from the user's full finances, on the dashboard.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443484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4152" y="4712817"/>
            <a:ext cx="38100" cy="118140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4617720"/>
            <a:ext cx="3154680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How users interact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A click or a question — AI meets them on the page they're already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46304" cy="384048"/>
          </a:xfrm>
          <a:prstGeom prst="roundRect">
            <a:avLst>
              <a:gd name="adj" fmla="val 6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NafaIQ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00D4AA"/>
                </a:solidFill>
                <a:latin typeface="Inter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One workflow, two providers, verified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2212848"/>
            <a:ext cx="77724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NafaIQ  ·  Week 6 — Generative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04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51760"/>
            <a:ext cx="2286000" cy="105156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98064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Client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4A3B8"/>
                </a:solidFill>
                <a:latin typeface="Inter"/>
              </a:rPr>
              <a:t>Web + Mobile
user action / question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52928" y="3054096"/>
            <a:ext cx="457200" cy="256032"/>
          </a:xfrm>
          <a:prstGeom prst="rightArrow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01568" y="265176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2798064"/>
            <a:ext cx="2468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FastAPI backend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4A3B8"/>
                </a:solidFill>
                <a:latin typeface="Inter"/>
              </a:rPr>
              <a:t>build context bundle
from app data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43600" y="3054096"/>
            <a:ext cx="457200" cy="256032"/>
          </a:xfrm>
          <a:prstGeom prst="rightArrow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265176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98064"/>
            <a:ext cx="2651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AI engine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4A3B8"/>
                </a:solidFill>
                <a:latin typeface="Inter"/>
              </a:rPr>
              <a:t>OpenAI SDK + Instructor
Gemini → Groq failover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217152" y="3054096"/>
            <a:ext cx="457200" cy="256032"/>
          </a:xfrm>
          <a:prstGeom prst="rightArrow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65792" y="2651760"/>
            <a:ext cx="1920240" cy="105156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2798064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Verified output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4A3B8"/>
                </a:solidFill>
                <a:latin typeface="Inter"/>
              </a:rPr>
              <a:t>cited · guardrailed
structured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3977639"/>
            <a:ext cx="5742432" cy="86868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3977639"/>
            <a:ext cx="57424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Inter"/>
              </a:rPr>
              <a:t>Supabase Postgres  +  pgvector (RAG, 768-dim)  ·  daily-cached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200">
                <a:solidFill>
                  <a:srgbClr val="00D4AA"/>
                </a:solidFill>
                <a:latin typeface="Inter"/>
              </a:rPr>
              <a:t>CROSS-CUTTING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13248"/>
            <a:ext cx="1843430" cy="384048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413248"/>
            <a:ext cx="184343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D4AA"/>
                </a:solidFill>
                <a:latin typeface="Inter"/>
              </a:rPr>
              <a:t>Key-pool rotation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92654" y="5413248"/>
            <a:ext cx="1843430" cy="384048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2654" y="5413248"/>
            <a:ext cx="184343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D4AA"/>
                </a:solidFill>
                <a:latin typeface="Inter"/>
              </a:rPr>
              <a:t>Provider failover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2388" y="5413248"/>
            <a:ext cx="2534716" cy="384048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2388" y="5413248"/>
            <a:ext cx="25347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D4AA"/>
                </a:solidFill>
                <a:latin typeface="Inter"/>
              </a:rPr>
              <a:t>Verification + citations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63408" y="5413248"/>
            <a:ext cx="2238451" cy="384048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63408" y="5413248"/>
            <a:ext cx="223845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D4AA"/>
                </a:solidFill>
                <a:latin typeface="Inter"/>
              </a:rPr>
              <a:t>Compliance guardrails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48163" y="5413248"/>
            <a:ext cx="1744675" cy="384048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48163" y="5413248"/>
            <a:ext cx="174467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D4AA"/>
                </a:solidFill>
                <a:latin typeface="Inter"/>
              </a:rPr>
              <a:t>Langfuse tracing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Inter"/>
              </a:rPr>
              <a:t>Models:  Gemini 3.1 Flash-Lite (primary)  ·  Llama 3.3 70B via Groq (fallback + confidential)  ·  gemini-embedding-001 (RAG)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46304" cy="384048"/>
          </a:xfrm>
          <a:prstGeom prst="roundRect">
            <a:avLst>
              <a:gd name="adj" fmla="val 6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NafaIQ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00D4AA"/>
                </a:solidFill>
                <a:latin typeface="Inter"/>
              </a:rPr>
              <a:t>IMPLEMENTATION &amp;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Engineered for trust, not just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2212848"/>
            <a:ext cx="77724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NafaIQ  ·  Week 6 — Generative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05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68071"/>
            <a:ext cx="38100" cy="11938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7004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Structured output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Pydantic schemas via Instructor — the model fills fields, never free text. Malformed output auto-retries.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48716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2768071"/>
            <a:ext cx="38100" cy="1193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67004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Externalized master prompts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Every prompt in versioned .txt files — injection-defense delimiters, bundle-only facts, output language.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248716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2768071"/>
            <a:ext cx="38100" cy="11938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267004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Verification + citations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Every number must cite a real data key; a verifier rejects any mismatch and regenerates once.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0740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688311"/>
            <a:ext cx="38100" cy="119384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59028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Compliance guardrails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No buy/sell/allocate advice — banned by construction and stripped post-hoc. Educational, always.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8536" y="440740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8536" y="4688311"/>
            <a:ext cx="38100" cy="11938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459028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Confidential routing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Per-user financial data is routed only to the private provider — never the shared free tier.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440740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4152" y="4688311"/>
            <a:ext cx="38100" cy="11938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459028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Prompt validation &amp; errors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Inputs bounded &amp; sanitized; failures fail fast to a clean state, never a broken or fabricated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46304" cy="384048"/>
          </a:xfrm>
          <a:prstGeom prst="roundRect">
            <a:avLst>
              <a:gd name="adj" fmla="val 6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NafaIQ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00D4AA"/>
                </a:solidFill>
                <a:latin typeface="Inter"/>
              </a:rPr>
              <a:t>INTEGRATION &amp;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Consumes real data — tested end to 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2212848"/>
            <a:ext cx="77724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NafaIQ  ·  Week 6 — Generative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06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13939"/>
            <a:ext cx="38100" cy="963777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70048"/>
            <a:ext cx="50292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Consumes app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Reports read live PSX prices, the user's holdings, transactions, budgets and goals — grounded in real numbers.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59936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286707"/>
            <a:ext cx="38100" cy="963777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242816"/>
            <a:ext cx="50292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Tested workflow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149+ automated AI tests across prompts, engine, guardrails, RAG and tutor. Live generation verified: 0 citation mismatches.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87168"/>
            <a:ext cx="5422392" cy="3246120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20">
                <a:solidFill>
                  <a:srgbClr val="00D4AA"/>
                </a:solidFill>
                <a:latin typeface="Inter"/>
              </a:rPr>
              <a:t>EDGE CASES &amp; FAILURE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273552"/>
            <a:ext cx="109728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320040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Rate limits:  </a:t>
            </a:r>
            <a:r>
              <a:rPr sz="1150" b="0">
                <a:solidFill>
                  <a:srgbClr val="94A3B8"/>
                </a:solidFill>
                <a:latin typeface="Inter"/>
              </a:rPr>
              <a:t>key-pool rotation, then Gemini→Groq failover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758184"/>
            <a:ext cx="109728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368503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Hallucinated numbers:  </a:t>
            </a:r>
            <a:r>
              <a:rPr sz="1150" b="0">
                <a:solidFill>
                  <a:srgbClr val="94A3B8"/>
                </a:solidFill>
                <a:latin typeface="Inter"/>
              </a:rPr>
              <a:t>verifier rejects → single regenerate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4242816"/>
            <a:ext cx="109728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4169664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Provider outage:  </a:t>
            </a:r>
            <a:r>
              <a:rPr sz="1150" b="0">
                <a:solidFill>
                  <a:srgbClr val="94A3B8"/>
                </a:solidFill>
                <a:latin typeface="Inter"/>
              </a:rPr>
              <a:t>clean 503 + short cooldown, never a bad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727448"/>
            <a:ext cx="109728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4654296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Latency:  </a:t>
            </a:r>
            <a:r>
              <a:rPr sz="1150" b="0">
                <a:solidFill>
                  <a:srgbClr val="94A3B8"/>
                </a:solidFill>
                <a:latin typeface="Inter"/>
              </a:rPr>
              <a:t>daily-cached reports serve instantly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5212080"/>
            <a:ext cx="109728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5138928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Invalid input:  </a:t>
            </a:r>
            <a:r>
              <a:rPr sz="1150" b="0">
                <a:solidFill>
                  <a:srgbClr val="94A3B8"/>
                </a:solidFill>
                <a:latin typeface="Inter"/>
              </a:rPr>
              <a:t>bounded, validated; graceful empty states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46304" cy="384048"/>
          </a:xfrm>
          <a:prstGeom prst="roundRect">
            <a:avLst>
              <a:gd name="adj" fmla="val 6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NafaIQ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00D4AA"/>
                </a:solidFill>
                <a:latin typeface="Inter"/>
              </a:rPr>
              <a:t>BONUS — ADVANCED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Optional this week — all implemented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2212848"/>
            <a:ext cx="77724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NafaIQ  ·  Week 6 — Generative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Inter"/>
              </a:rPr>
              <a:t>07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68071"/>
            <a:ext cx="38100" cy="11938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7004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RAG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LearnHub semantic retrieval over a pgvector corpus — grounded, cited answers.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670048"/>
            <a:ext cx="868680" cy="2743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67004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60">
                <a:solidFill>
                  <a:srgbClr val="10B981"/>
                </a:solidFill>
                <a:latin typeface="Inter"/>
              </a:rPr>
              <a:t>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248716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6" y="2768071"/>
            <a:ext cx="38100" cy="1193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67004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Conversation memory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The AI tutor persists chat history per user &amp; lesson.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48856" y="2670048"/>
            <a:ext cx="868680" cy="2743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8856" y="267004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60">
                <a:solidFill>
                  <a:srgbClr val="10B981"/>
                </a:solidFill>
                <a:latin typeface="Inter"/>
              </a:rPr>
              <a:t>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248716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4152" y="2768071"/>
            <a:ext cx="38100" cy="11938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267004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Streaming responses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Token-by-token SSE streaming in the tutor.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34472" y="2670048"/>
            <a:ext cx="868680" cy="2743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4472" y="267004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60">
                <a:solidFill>
                  <a:srgbClr val="10B981"/>
                </a:solidFill>
                <a:latin typeface="Inter"/>
              </a:rPr>
              <a:t>DONE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0740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688311"/>
            <a:ext cx="38100" cy="11938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59028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Tool / function calling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Instructor-driven structured output (function-calling under the hood).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590288"/>
            <a:ext cx="868680" cy="2743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459028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60">
                <a:solidFill>
                  <a:srgbClr val="10B981"/>
                </a:solidFill>
                <a:latin typeface="Inter"/>
              </a:rPr>
              <a:t>DONE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8536" y="440740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88536" y="4688311"/>
            <a:ext cx="38100" cy="1193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459028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Response evaluation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Verification + guardrails score &amp; optimize every report; Langfuse traces latency, tokens &amp; cost.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48856" y="4590288"/>
            <a:ext cx="868680" cy="2743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459028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60">
                <a:solidFill>
                  <a:srgbClr val="10B981"/>
                </a:solidFill>
                <a:latin typeface="Inter"/>
              </a:rPr>
              <a:t>DONE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440740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0D1424"/>
          </a:solidFill>
          <a:ln w="12700">
            <a:solidFill>
              <a:srgbClr val="1E2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74152" y="4688311"/>
            <a:ext cx="38100" cy="11938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4590288"/>
            <a:ext cx="315468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Multi-agent workflows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Inter"/>
              </a:rPr>
              <a:t>Not pursued — a deliberate scope call for this week.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34472" y="4590288"/>
            <a:ext cx="868680" cy="2743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34472" y="459028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60">
                <a:solidFill>
                  <a:srgbClr val="64748B"/>
                </a:solidFill>
                <a:latin typeface="Inter"/>
              </a:rPr>
              <a:t>SKIPPED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